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21"/>
    <p:sldId id="257" r:id="rId22"/>
    <p:sldId id="258" r:id="rId23"/>
    <p:sldId id="259" r:id="rId24"/>
    <p:sldId id="260" r:id="rId25"/>
    <p:sldId id="261" r:id="rId26"/>
    <p:sldId id="262" r:id="rId27"/>
  </p:sldIdLst>
  <p:sldSz cx="18288000" cy="10287000"/>
  <p:notesSz cx="6858000" cy="9144000"/>
  <p:embeddedFontLst>
    <p:embeddedFont>
      <p:font typeface="Arimo" charset="1" panose="020B0604020202020204"/>
      <p:regular r:id="rId6"/>
    </p:embeddedFont>
    <p:embeddedFont>
      <p:font typeface="Arimo Bold" charset="1" panose="020B0704020202020204"/>
      <p:regular r:id="rId7"/>
    </p:embeddedFont>
    <p:embeddedFont>
      <p:font typeface="Arimo Italics" charset="1" panose="020B0604020202090204"/>
      <p:regular r:id="rId8"/>
    </p:embeddedFont>
    <p:embeddedFont>
      <p:font typeface="Arimo Bold Italics" charset="1" panose="020B0704020202090204"/>
      <p:regular r:id="rId9"/>
    </p:embeddedFont>
    <p:embeddedFont>
      <p:font typeface="Gaegu" charset="1" panose="00000000000000000000"/>
      <p:regular r:id="rId10"/>
    </p:embeddedFont>
    <p:embeddedFont>
      <p:font typeface="Gaegu Bold" charset="1" panose="00000000000000000000"/>
      <p:regular r:id="rId11"/>
    </p:embeddedFont>
    <p:embeddedFont>
      <p:font typeface="Gaegu Light" charset="1" panose="00000000000000000000"/>
      <p:regular r:id="rId12"/>
    </p:embeddedFont>
    <p:embeddedFont>
      <p:font typeface="Dosis" charset="1" panose="02010503020202060003"/>
      <p:regular r:id="rId13"/>
    </p:embeddedFont>
    <p:embeddedFont>
      <p:font typeface="Dosis Bold" charset="1" panose="02010803020202060003"/>
      <p:regular r:id="rId14"/>
    </p:embeddedFont>
    <p:embeddedFont>
      <p:font typeface="Dosis Extra-Light" charset="1" panose="02010203020202060003"/>
      <p:regular r:id="rId15"/>
    </p:embeddedFont>
    <p:embeddedFont>
      <p:font typeface="Dosis Light" charset="1" panose="02010803020202060003"/>
      <p:regular r:id="rId16"/>
    </p:embeddedFont>
    <p:embeddedFont>
      <p:font typeface="Dosis Medium" charset="1" panose="02010603020202060003"/>
      <p:regular r:id="rId17"/>
    </p:embeddedFont>
    <p:embeddedFont>
      <p:font typeface="Dosis Semi-Bold" charset="1" panose="02010703020202060003"/>
      <p:regular r:id="rId18"/>
    </p:embeddedFont>
    <p:embeddedFont>
      <p:font typeface="Dosis Ultra-Bold" charset="1" panose="02010903020202060003"/>
      <p:regular r:id="rId19"/>
    </p:embeddedFont>
    <p:embeddedFont>
      <p:font typeface="Bryndan Write" charset="1" panose="02000503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slides/slide1.xml" Type="http://schemas.openxmlformats.org/officeDocument/2006/relationships/slide"/><Relationship Id="rId22" Target="slides/slide2.xml" Type="http://schemas.openxmlformats.org/officeDocument/2006/relationships/slide"/><Relationship Id="rId23" Target="slides/slide3.xml" Type="http://schemas.openxmlformats.org/officeDocument/2006/relationships/slide"/><Relationship Id="rId24" Target="slides/slide4.xml" Type="http://schemas.openxmlformats.org/officeDocument/2006/relationships/slide"/><Relationship Id="rId25" Target="slides/slide5.xml" Type="http://schemas.openxmlformats.org/officeDocument/2006/relationships/slide"/><Relationship Id="rId26" Target="slides/slide6.xml" Type="http://schemas.openxmlformats.org/officeDocument/2006/relationships/slide"/><Relationship Id="rId27" Target="slides/slide7.xml" Type="http://schemas.openxmlformats.org/officeDocument/2006/relationship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fonts/font6.fntdata" Type="http://schemas.openxmlformats.org/officeDocument/2006/relationships/font"/><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svg" Type="http://schemas.openxmlformats.org/officeDocument/2006/relationships/image"/><Relationship Id="rId2" Target="../media/image1.jpe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2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467" t="-10431" r="-2216" b="-13067"/>
            </a:stretch>
          </a:blipFill>
        </p:spPr>
      </p:sp>
      <p:grpSp>
        <p:nvGrpSpPr>
          <p:cNvPr name="Group 3" id="3"/>
          <p:cNvGrpSpPr/>
          <p:nvPr/>
        </p:nvGrpSpPr>
        <p:grpSpPr>
          <a:xfrm rot="0">
            <a:off x="1996760" y="1967159"/>
            <a:ext cx="14294480" cy="5990982"/>
            <a:chOff x="0" y="0"/>
            <a:chExt cx="19059306" cy="7987976"/>
          </a:xfrm>
        </p:grpSpPr>
        <p:sp>
          <p:nvSpPr>
            <p:cNvPr name="Freeform 4" id="4"/>
            <p:cNvSpPr/>
            <p:nvPr/>
          </p:nvSpPr>
          <p:spPr>
            <a:xfrm flipH="false" flipV="false" rot="92033">
              <a:off x="273808" y="428159"/>
              <a:ext cx="18690996" cy="7310963"/>
            </a:xfrm>
            <a:custGeom>
              <a:avLst/>
              <a:gdLst/>
              <a:ahLst/>
              <a:cxnLst/>
              <a:rect r="r" b="b" t="t" l="l"/>
              <a:pathLst>
                <a:path h="7310963" w="18690996">
                  <a:moveTo>
                    <a:pt x="0" y="0"/>
                  </a:moveTo>
                  <a:lnTo>
                    <a:pt x="18690996" y="0"/>
                  </a:lnTo>
                  <a:lnTo>
                    <a:pt x="18690996" y="7310964"/>
                  </a:lnTo>
                  <a:lnTo>
                    <a:pt x="0" y="7310964"/>
                  </a:lnTo>
                  <a:lnTo>
                    <a:pt x="0" y="0"/>
                  </a:lnTo>
                  <a:close/>
                </a:path>
              </a:pathLst>
            </a:custGeom>
            <a:blipFill>
              <a:blip r:embed="rId3">
                <a:alphaModFix amt="60000"/>
              </a:blip>
              <a:stretch>
                <a:fillRect l="-1056" t="-10951" r="-1056" b="0"/>
              </a:stretch>
            </a:blipFill>
          </p:spPr>
        </p:sp>
        <p:sp>
          <p:nvSpPr>
            <p:cNvPr name="Freeform 5" id="5"/>
            <p:cNvSpPr/>
            <p:nvPr/>
          </p:nvSpPr>
          <p:spPr>
            <a:xfrm flipH="false" flipV="false" rot="92033">
              <a:off x="94502" y="248853"/>
              <a:ext cx="18690996" cy="7310963"/>
            </a:xfrm>
            <a:custGeom>
              <a:avLst/>
              <a:gdLst/>
              <a:ahLst/>
              <a:cxnLst/>
              <a:rect r="r" b="b" t="t" l="l"/>
              <a:pathLst>
                <a:path h="7310963" w="18690996">
                  <a:moveTo>
                    <a:pt x="0" y="0"/>
                  </a:moveTo>
                  <a:lnTo>
                    <a:pt x="18690996" y="0"/>
                  </a:lnTo>
                  <a:lnTo>
                    <a:pt x="18690996" y="7310964"/>
                  </a:lnTo>
                  <a:lnTo>
                    <a:pt x="0" y="7310964"/>
                  </a:lnTo>
                  <a:lnTo>
                    <a:pt x="0" y="0"/>
                  </a:lnTo>
                  <a:close/>
                </a:path>
              </a:pathLst>
            </a:custGeom>
            <a:blipFill>
              <a:blip r:embed="rId4"/>
              <a:stretch>
                <a:fillRect l="-1056" t="-10951" r="-1056" b="0"/>
              </a:stretch>
            </a:blipFill>
          </p:spPr>
        </p:sp>
      </p:grpSp>
      <p:sp>
        <p:nvSpPr>
          <p:cNvPr name="TextBox 6" id="6"/>
          <p:cNvSpPr txBox="true"/>
          <p:nvPr/>
        </p:nvSpPr>
        <p:spPr>
          <a:xfrm rot="0">
            <a:off x="4042327" y="4476116"/>
            <a:ext cx="9775096" cy="1757946"/>
          </a:xfrm>
          <a:prstGeom prst="rect">
            <a:avLst/>
          </a:prstGeom>
        </p:spPr>
        <p:txBody>
          <a:bodyPr anchor="t" rtlCol="false" tIns="0" lIns="0" bIns="0" rIns="0">
            <a:spAutoFit/>
          </a:bodyPr>
          <a:lstStyle/>
          <a:p>
            <a:pPr algn="ctr">
              <a:lnSpc>
                <a:spcPts val="10989"/>
              </a:lnSpc>
            </a:pPr>
            <a:r>
              <a:rPr lang="en-US" sz="11568" spc="-694">
                <a:solidFill>
                  <a:srgbClr val="000000"/>
                </a:solidFill>
                <a:latin typeface="Gaegu Bold"/>
              </a:rPr>
              <a:t>THE LOCAL TOWN</a:t>
            </a:r>
          </a:p>
        </p:txBody>
      </p:sp>
      <p:sp>
        <p:nvSpPr>
          <p:cNvPr name="TextBox 7" id="7"/>
          <p:cNvSpPr txBox="true"/>
          <p:nvPr/>
        </p:nvSpPr>
        <p:spPr>
          <a:xfrm rot="0">
            <a:off x="3883370" y="3578217"/>
            <a:ext cx="9008382" cy="1248099"/>
          </a:xfrm>
          <a:prstGeom prst="rect">
            <a:avLst/>
          </a:prstGeom>
        </p:spPr>
        <p:txBody>
          <a:bodyPr anchor="t" rtlCol="false" tIns="0" lIns="0" bIns="0" rIns="0">
            <a:spAutoFit/>
          </a:bodyPr>
          <a:lstStyle/>
          <a:p>
            <a:pPr algn="ctr">
              <a:lnSpc>
                <a:spcPts val="7791"/>
              </a:lnSpc>
            </a:pPr>
            <a:r>
              <a:rPr lang="en-US" sz="8201" spc="-508">
                <a:solidFill>
                  <a:srgbClr val="000000"/>
                </a:solidFill>
                <a:latin typeface="Gaegu Bold"/>
              </a:rPr>
              <a:t>Sustainable energy for</a:t>
            </a:r>
          </a:p>
        </p:txBody>
      </p:sp>
      <p:sp>
        <p:nvSpPr>
          <p:cNvPr name="Freeform 8" id="8"/>
          <p:cNvSpPr/>
          <p:nvPr/>
        </p:nvSpPr>
        <p:spPr>
          <a:xfrm flipH="false" flipV="false" rot="-1051246">
            <a:off x="-2552417" y="-2884738"/>
            <a:ext cx="5104835" cy="5104835"/>
          </a:xfrm>
          <a:custGeom>
            <a:avLst/>
            <a:gdLst/>
            <a:ahLst/>
            <a:cxnLst/>
            <a:rect r="r" b="b" t="t" l="l"/>
            <a:pathLst>
              <a:path h="5104835" w="5104835">
                <a:moveTo>
                  <a:pt x="0" y="0"/>
                </a:moveTo>
                <a:lnTo>
                  <a:pt x="5104834" y="0"/>
                </a:lnTo>
                <a:lnTo>
                  <a:pt x="5104834" y="5104835"/>
                </a:lnTo>
                <a:lnTo>
                  <a:pt x="0" y="51048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2700000">
            <a:off x="10542936" y="940005"/>
            <a:ext cx="1103359" cy="1581877"/>
          </a:xfrm>
          <a:custGeom>
            <a:avLst/>
            <a:gdLst/>
            <a:ahLst/>
            <a:cxnLst/>
            <a:rect r="r" b="b" t="t" l="l"/>
            <a:pathLst>
              <a:path h="1581877" w="1103359">
                <a:moveTo>
                  <a:pt x="0" y="0"/>
                </a:moveTo>
                <a:lnTo>
                  <a:pt x="1103360" y="0"/>
                </a:lnTo>
                <a:lnTo>
                  <a:pt x="1103360" y="1581877"/>
                </a:lnTo>
                <a:lnTo>
                  <a:pt x="0" y="158187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3275443">
            <a:off x="2211959" y="2969126"/>
            <a:ext cx="1337326" cy="1218183"/>
          </a:xfrm>
          <a:custGeom>
            <a:avLst/>
            <a:gdLst/>
            <a:ahLst/>
            <a:cxnLst/>
            <a:rect r="r" b="b" t="t" l="l"/>
            <a:pathLst>
              <a:path h="1218183" w="1337326">
                <a:moveTo>
                  <a:pt x="0" y="0"/>
                </a:moveTo>
                <a:lnTo>
                  <a:pt x="1337327" y="0"/>
                </a:lnTo>
                <a:lnTo>
                  <a:pt x="1337327" y="1218183"/>
                </a:lnTo>
                <a:lnTo>
                  <a:pt x="0" y="121818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5488621">
            <a:off x="14068292" y="5900049"/>
            <a:ext cx="2174492" cy="3388019"/>
          </a:xfrm>
          <a:custGeom>
            <a:avLst/>
            <a:gdLst/>
            <a:ahLst/>
            <a:cxnLst/>
            <a:rect r="r" b="b" t="t" l="l"/>
            <a:pathLst>
              <a:path h="3388019" w="2174492">
                <a:moveTo>
                  <a:pt x="0" y="0"/>
                </a:moveTo>
                <a:lnTo>
                  <a:pt x="2174492" y="0"/>
                </a:lnTo>
                <a:lnTo>
                  <a:pt x="2174492" y="3388019"/>
                </a:lnTo>
                <a:lnTo>
                  <a:pt x="0" y="338801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1304326">
            <a:off x="884830" y="3954490"/>
            <a:ext cx="3500388" cy="5714919"/>
          </a:xfrm>
          <a:custGeom>
            <a:avLst/>
            <a:gdLst/>
            <a:ahLst/>
            <a:cxnLst/>
            <a:rect r="r" b="b" t="t" l="l"/>
            <a:pathLst>
              <a:path h="5714919" w="3500388">
                <a:moveTo>
                  <a:pt x="0" y="0"/>
                </a:moveTo>
                <a:lnTo>
                  <a:pt x="3500388" y="0"/>
                </a:lnTo>
                <a:lnTo>
                  <a:pt x="3500388" y="5714919"/>
                </a:lnTo>
                <a:lnTo>
                  <a:pt x="0" y="571491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3" id="13"/>
          <p:cNvSpPr/>
          <p:nvPr/>
        </p:nvSpPr>
        <p:spPr>
          <a:xfrm flipH="false" flipV="false" rot="0">
            <a:off x="12592704" y="1028700"/>
            <a:ext cx="5125668" cy="3933950"/>
          </a:xfrm>
          <a:custGeom>
            <a:avLst/>
            <a:gdLst/>
            <a:ahLst/>
            <a:cxnLst/>
            <a:rect r="r" b="b" t="t" l="l"/>
            <a:pathLst>
              <a:path h="3933950" w="5125668">
                <a:moveTo>
                  <a:pt x="0" y="0"/>
                </a:moveTo>
                <a:lnTo>
                  <a:pt x="5125668" y="0"/>
                </a:lnTo>
                <a:lnTo>
                  <a:pt x="5125668" y="3933950"/>
                </a:lnTo>
                <a:lnTo>
                  <a:pt x="0" y="393395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4" id="14"/>
          <p:cNvSpPr/>
          <p:nvPr/>
        </p:nvSpPr>
        <p:spPr>
          <a:xfrm flipH="true" flipV="false" rot="4057876">
            <a:off x="5812381" y="445640"/>
            <a:ext cx="1394952" cy="2759798"/>
          </a:xfrm>
          <a:custGeom>
            <a:avLst/>
            <a:gdLst/>
            <a:ahLst/>
            <a:cxnLst/>
            <a:rect r="r" b="b" t="t" l="l"/>
            <a:pathLst>
              <a:path h="2759798" w="1394952">
                <a:moveTo>
                  <a:pt x="1394952" y="0"/>
                </a:moveTo>
                <a:lnTo>
                  <a:pt x="0" y="0"/>
                </a:lnTo>
                <a:lnTo>
                  <a:pt x="0" y="2759798"/>
                </a:lnTo>
                <a:lnTo>
                  <a:pt x="1394952" y="2759798"/>
                </a:lnTo>
                <a:lnTo>
                  <a:pt x="1394952"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5" id="15"/>
          <p:cNvSpPr/>
          <p:nvPr/>
        </p:nvSpPr>
        <p:spPr>
          <a:xfrm flipH="false" flipV="false" rot="-1051246">
            <a:off x="15805535" y="8247789"/>
            <a:ext cx="5104835" cy="5104835"/>
          </a:xfrm>
          <a:custGeom>
            <a:avLst/>
            <a:gdLst/>
            <a:ahLst/>
            <a:cxnLst/>
            <a:rect r="r" b="b" t="t" l="l"/>
            <a:pathLst>
              <a:path h="5104835" w="5104835">
                <a:moveTo>
                  <a:pt x="0" y="0"/>
                </a:moveTo>
                <a:lnTo>
                  <a:pt x="5104835" y="0"/>
                </a:lnTo>
                <a:lnTo>
                  <a:pt x="5104835" y="5104835"/>
                </a:lnTo>
                <a:lnTo>
                  <a:pt x="0" y="51048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467" t="-10431" r="-2216" b="-13067"/>
            </a:stretch>
          </a:blipFill>
        </p:spPr>
      </p:sp>
      <p:sp>
        <p:nvSpPr>
          <p:cNvPr name="Freeform 3" id="3"/>
          <p:cNvSpPr/>
          <p:nvPr/>
        </p:nvSpPr>
        <p:spPr>
          <a:xfrm flipH="false" flipV="false" rot="0">
            <a:off x="1028700" y="2138798"/>
            <a:ext cx="11353788" cy="2195529"/>
          </a:xfrm>
          <a:custGeom>
            <a:avLst/>
            <a:gdLst/>
            <a:ahLst/>
            <a:cxnLst/>
            <a:rect r="r" b="b" t="t" l="l"/>
            <a:pathLst>
              <a:path h="2195529" w="11353788">
                <a:moveTo>
                  <a:pt x="0" y="0"/>
                </a:moveTo>
                <a:lnTo>
                  <a:pt x="11353788" y="0"/>
                </a:lnTo>
                <a:lnTo>
                  <a:pt x="11353788" y="2195529"/>
                </a:lnTo>
                <a:lnTo>
                  <a:pt x="0" y="2195529"/>
                </a:lnTo>
                <a:lnTo>
                  <a:pt x="0" y="0"/>
                </a:lnTo>
                <a:close/>
              </a:path>
            </a:pathLst>
          </a:custGeom>
          <a:blipFill>
            <a:blip r:embed="rId3"/>
            <a:stretch>
              <a:fillRect l="0" t="-88375" r="0" b="-31405"/>
            </a:stretch>
          </a:blipFill>
        </p:spPr>
      </p:sp>
      <p:sp>
        <p:nvSpPr>
          <p:cNvPr name="TextBox 4" id="4"/>
          <p:cNvSpPr txBox="true"/>
          <p:nvPr/>
        </p:nvSpPr>
        <p:spPr>
          <a:xfrm rot="0">
            <a:off x="1654578" y="2315813"/>
            <a:ext cx="9729268" cy="1841499"/>
          </a:xfrm>
          <a:prstGeom prst="rect">
            <a:avLst/>
          </a:prstGeom>
        </p:spPr>
        <p:txBody>
          <a:bodyPr anchor="t" rtlCol="false" tIns="0" lIns="0" bIns="0" rIns="0">
            <a:spAutoFit/>
          </a:bodyPr>
          <a:lstStyle/>
          <a:p>
            <a:pPr algn="ctr">
              <a:lnSpc>
                <a:spcPts val="11494"/>
              </a:lnSpc>
            </a:pPr>
            <a:r>
              <a:rPr lang="en-US" sz="12099" spc="-810">
                <a:solidFill>
                  <a:srgbClr val="000000"/>
                </a:solidFill>
                <a:latin typeface="Gaegu Bold"/>
              </a:rPr>
              <a:t>Introduction</a:t>
            </a:r>
          </a:p>
        </p:txBody>
      </p:sp>
      <p:sp>
        <p:nvSpPr>
          <p:cNvPr name="Freeform 5" id="5"/>
          <p:cNvSpPr/>
          <p:nvPr/>
        </p:nvSpPr>
        <p:spPr>
          <a:xfrm flipH="false" flipV="false" rot="4050216">
            <a:off x="15772048" y="419609"/>
            <a:ext cx="1337326" cy="1218183"/>
          </a:xfrm>
          <a:custGeom>
            <a:avLst/>
            <a:gdLst/>
            <a:ahLst/>
            <a:cxnLst/>
            <a:rect r="r" b="b" t="t" l="l"/>
            <a:pathLst>
              <a:path h="1218183" w="1337326">
                <a:moveTo>
                  <a:pt x="0" y="0"/>
                </a:moveTo>
                <a:lnTo>
                  <a:pt x="1337326" y="0"/>
                </a:lnTo>
                <a:lnTo>
                  <a:pt x="1337326" y="1218182"/>
                </a:lnTo>
                <a:lnTo>
                  <a:pt x="0" y="12181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700000">
            <a:off x="13165297" y="7734583"/>
            <a:ext cx="5104835" cy="5104835"/>
          </a:xfrm>
          <a:custGeom>
            <a:avLst/>
            <a:gdLst/>
            <a:ahLst/>
            <a:cxnLst/>
            <a:rect r="r" b="b" t="t" l="l"/>
            <a:pathLst>
              <a:path h="5104835" w="5104835">
                <a:moveTo>
                  <a:pt x="0" y="0"/>
                </a:moveTo>
                <a:lnTo>
                  <a:pt x="5104835" y="0"/>
                </a:lnTo>
                <a:lnTo>
                  <a:pt x="5104835" y="5104834"/>
                </a:lnTo>
                <a:lnTo>
                  <a:pt x="0" y="51048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866099">
            <a:off x="12803500" y="1383655"/>
            <a:ext cx="4904486" cy="8007324"/>
          </a:xfrm>
          <a:custGeom>
            <a:avLst/>
            <a:gdLst/>
            <a:ahLst/>
            <a:cxnLst/>
            <a:rect r="r" b="b" t="t" l="l"/>
            <a:pathLst>
              <a:path h="8007324" w="4904486">
                <a:moveTo>
                  <a:pt x="0" y="0"/>
                </a:moveTo>
                <a:lnTo>
                  <a:pt x="4904486" y="0"/>
                </a:lnTo>
                <a:lnTo>
                  <a:pt x="4904486" y="8007323"/>
                </a:lnTo>
                <a:lnTo>
                  <a:pt x="0" y="800732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1654578" y="4555608"/>
            <a:ext cx="9729268" cy="4712744"/>
          </a:xfrm>
          <a:prstGeom prst="rect">
            <a:avLst/>
          </a:prstGeom>
        </p:spPr>
        <p:txBody>
          <a:bodyPr anchor="t" rtlCol="false" tIns="0" lIns="0" bIns="0" rIns="0">
            <a:spAutoFit/>
          </a:bodyPr>
          <a:lstStyle/>
          <a:p>
            <a:pPr algn="l">
              <a:lnSpc>
                <a:spcPts val="4665"/>
              </a:lnSpc>
            </a:pPr>
            <a:r>
              <a:rPr lang="en-US" sz="3561">
                <a:solidFill>
                  <a:srgbClr val="000000"/>
                </a:solidFill>
                <a:latin typeface="Dosis Semi-Bold"/>
              </a:rPr>
              <a:t>Welcome to our local energy community group meeting! We're thrilled to have you join us as we come together to discuss ways to energize our community and promote sustainable practices. This meeting will provide an opportunity for us to share ideas, collaborate on projects, and strengthen our commitment to a greener future.</a:t>
            </a:r>
          </a:p>
          <a:p>
            <a:pPr algn="l">
              <a:lnSpc>
                <a:spcPts val="4665"/>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467" t="-10431" r="-2216" b="-13067"/>
            </a:stretch>
          </a:blipFill>
        </p:spPr>
      </p:sp>
      <p:sp>
        <p:nvSpPr>
          <p:cNvPr name="Freeform 3" id="3"/>
          <p:cNvSpPr/>
          <p:nvPr/>
        </p:nvSpPr>
        <p:spPr>
          <a:xfrm flipH="false" flipV="false" rot="0">
            <a:off x="2313518" y="883956"/>
            <a:ext cx="13667198" cy="1949337"/>
          </a:xfrm>
          <a:custGeom>
            <a:avLst/>
            <a:gdLst/>
            <a:ahLst/>
            <a:cxnLst/>
            <a:rect r="r" b="b" t="t" l="l"/>
            <a:pathLst>
              <a:path h="1949337" w="13667198">
                <a:moveTo>
                  <a:pt x="0" y="0"/>
                </a:moveTo>
                <a:lnTo>
                  <a:pt x="13667197" y="0"/>
                </a:lnTo>
                <a:lnTo>
                  <a:pt x="13667197" y="1949337"/>
                </a:lnTo>
                <a:lnTo>
                  <a:pt x="0" y="1949337"/>
                </a:lnTo>
                <a:lnTo>
                  <a:pt x="0" y="0"/>
                </a:lnTo>
                <a:close/>
              </a:path>
            </a:pathLst>
          </a:custGeom>
          <a:blipFill>
            <a:blip r:embed="rId3"/>
            <a:stretch>
              <a:fillRect l="0" t="-136660" r="0" b="-61316"/>
            </a:stretch>
          </a:blipFill>
        </p:spPr>
      </p:sp>
      <p:sp>
        <p:nvSpPr>
          <p:cNvPr name="TextBox 4" id="4"/>
          <p:cNvSpPr txBox="true"/>
          <p:nvPr/>
        </p:nvSpPr>
        <p:spPr>
          <a:xfrm rot="0">
            <a:off x="2931351" y="581025"/>
            <a:ext cx="11546963" cy="2038354"/>
          </a:xfrm>
          <a:prstGeom prst="rect">
            <a:avLst/>
          </a:prstGeom>
        </p:spPr>
        <p:txBody>
          <a:bodyPr anchor="t" rtlCol="false" tIns="0" lIns="0" bIns="0" rIns="0">
            <a:spAutoFit/>
          </a:bodyPr>
          <a:lstStyle/>
          <a:p>
            <a:pPr algn="ctr">
              <a:lnSpc>
                <a:spcPts val="14699"/>
              </a:lnSpc>
            </a:pPr>
            <a:r>
              <a:rPr lang="en-US" sz="10499" spc="-535">
                <a:solidFill>
                  <a:srgbClr val="000000"/>
                </a:solidFill>
                <a:latin typeface="Gaegu Bold"/>
              </a:rPr>
              <a:t>Agenda</a:t>
            </a:r>
          </a:p>
        </p:txBody>
      </p:sp>
      <p:sp>
        <p:nvSpPr>
          <p:cNvPr name="Freeform 5" id="5"/>
          <p:cNvSpPr/>
          <p:nvPr/>
        </p:nvSpPr>
        <p:spPr>
          <a:xfrm flipH="false" flipV="false" rot="-10669463">
            <a:off x="14689581" y="1556615"/>
            <a:ext cx="1801268" cy="1654558"/>
          </a:xfrm>
          <a:custGeom>
            <a:avLst/>
            <a:gdLst/>
            <a:ahLst/>
            <a:cxnLst/>
            <a:rect r="r" b="b" t="t" l="l"/>
            <a:pathLst>
              <a:path h="1654558" w="1801268">
                <a:moveTo>
                  <a:pt x="0" y="0"/>
                </a:moveTo>
                <a:lnTo>
                  <a:pt x="1801268" y="0"/>
                </a:lnTo>
                <a:lnTo>
                  <a:pt x="1801268" y="1654558"/>
                </a:lnTo>
                <a:lnTo>
                  <a:pt x="0" y="1654558"/>
                </a:lnTo>
                <a:lnTo>
                  <a:pt x="0" y="0"/>
                </a:lnTo>
                <a:close/>
              </a:path>
            </a:pathLst>
          </a:custGeom>
          <a:blipFill>
            <a:blip r:embed="rId4"/>
            <a:stretch>
              <a:fillRect l="0" t="0" r="0" b="0"/>
            </a:stretch>
          </a:blipFill>
        </p:spPr>
      </p:sp>
      <p:sp>
        <p:nvSpPr>
          <p:cNvPr name="Freeform 6" id="6"/>
          <p:cNvSpPr/>
          <p:nvPr/>
        </p:nvSpPr>
        <p:spPr>
          <a:xfrm flipH="false" flipV="false" rot="1727943">
            <a:off x="12606406" y="457586"/>
            <a:ext cx="2197136" cy="1158385"/>
          </a:xfrm>
          <a:custGeom>
            <a:avLst/>
            <a:gdLst/>
            <a:ahLst/>
            <a:cxnLst/>
            <a:rect r="r" b="b" t="t" l="l"/>
            <a:pathLst>
              <a:path h="1158385" w="2197136">
                <a:moveTo>
                  <a:pt x="0" y="0"/>
                </a:moveTo>
                <a:lnTo>
                  <a:pt x="2197136" y="0"/>
                </a:lnTo>
                <a:lnTo>
                  <a:pt x="2197136" y="1158385"/>
                </a:lnTo>
                <a:lnTo>
                  <a:pt x="0" y="1158385"/>
                </a:lnTo>
                <a:lnTo>
                  <a:pt x="0" y="0"/>
                </a:lnTo>
                <a:close/>
              </a:path>
            </a:pathLst>
          </a:custGeom>
          <a:blipFill>
            <a:blip r:embed="rId5"/>
            <a:stretch>
              <a:fillRect l="0" t="0" r="0" b="0"/>
            </a:stretch>
          </a:blipFill>
        </p:spPr>
      </p:sp>
      <p:sp>
        <p:nvSpPr>
          <p:cNvPr name="AutoShape 7" id="7"/>
          <p:cNvSpPr/>
          <p:nvPr/>
        </p:nvSpPr>
        <p:spPr>
          <a:xfrm>
            <a:off x="2574918" y="3741633"/>
            <a:ext cx="13138165" cy="0"/>
          </a:xfrm>
          <a:prstGeom prst="line">
            <a:avLst/>
          </a:prstGeom>
          <a:ln cap="flat" w="38100">
            <a:solidFill>
              <a:srgbClr val="000000"/>
            </a:solidFill>
            <a:prstDash val="solid"/>
            <a:headEnd type="none" len="sm" w="sm"/>
            <a:tailEnd type="none" len="sm" w="sm"/>
          </a:ln>
        </p:spPr>
      </p:sp>
      <p:grpSp>
        <p:nvGrpSpPr>
          <p:cNvPr name="Group 8" id="8"/>
          <p:cNvGrpSpPr/>
          <p:nvPr/>
        </p:nvGrpSpPr>
        <p:grpSpPr>
          <a:xfrm rot="0">
            <a:off x="2530794" y="3341075"/>
            <a:ext cx="801115" cy="80111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444"/>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3836"/>
                </a:lnSpc>
              </a:pPr>
              <a:r>
                <a:rPr lang="en-US" sz="3144">
                  <a:solidFill>
                    <a:srgbClr val="000000"/>
                  </a:solidFill>
                  <a:latin typeface="Bryndan Write"/>
                </a:rPr>
                <a:t>1</a:t>
              </a:r>
            </a:p>
          </p:txBody>
        </p:sp>
      </p:grpSp>
      <p:sp>
        <p:nvSpPr>
          <p:cNvPr name="TextBox 11" id="11"/>
          <p:cNvSpPr txBox="true"/>
          <p:nvPr/>
        </p:nvSpPr>
        <p:spPr>
          <a:xfrm rot="0">
            <a:off x="2530794" y="4320952"/>
            <a:ext cx="5934263" cy="1510665"/>
          </a:xfrm>
          <a:prstGeom prst="rect">
            <a:avLst/>
          </a:prstGeom>
        </p:spPr>
        <p:txBody>
          <a:bodyPr anchor="t" rtlCol="false" tIns="0" lIns="0" bIns="0" rIns="0">
            <a:spAutoFit/>
          </a:bodyPr>
          <a:lstStyle/>
          <a:p>
            <a:pPr algn="l">
              <a:lnSpc>
                <a:spcPts val="3999"/>
              </a:lnSpc>
            </a:pPr>
            <a:r>
              <a:rPr lang="en-US" sz="3999" spc="-239" u="sng">
                <a:solidFill>
                  <a:srgbClr val="000000"/>
                </a:solidFill>
                <a:latin typeface="Gaegu Bold"/>
              </a:rPr>
              <a:t>Welcome and Introductions (10 minutes):</a:t>
            </a:r>
          </a:p>
          <a:p>
            <a:pPr algn="ctr">
              <a:lnSpc>
                <a:spcPts val="3200"/>
              </a:lnSpc>
            </a:pPr>
          </a:p>
        </p:txBody>
      </p:sp>
      <p:sp>
        <p:nvSpPr>
          <p:cNvPr name="TextBox 12" id="12"/>
          <p:cNvSpPr txBox="true"/>
          <p:nvPr/>
        </p:nvSpPr>
        <p:spPr>
          <a:xfrm rot="0">
            <a:off x="9842313" y="4344448"/>
            <a:ext cx="7393109" cy="1120775"/>
          </a:xfrm>
          <a:prstGeom prst="rect">
            <a:avLst/>
          </a:prstGeom>
        </p:spPr>
        <p:txBody>
          <a:bodyPr anchor="t" rtlCol="false" tIns="0" lIns="0" bIns="0" rIns="0">
            <a:spAutoFit/>
          </a:bodyPr>
          <a:lstStyle/>
          <a:p>
            <a:pPr algn="l">
              <a:lnSpc>
                <a:spcPts val="3999"/>
              </a:lnSpc>
            </a:pPr>
            <a:r>
              <a:rPr lang="en-US" sz="3999" spc="-239" u="sng">
                <a:solidFill>
                  <a:srgbClr val="000000"/>
                </a:solidFill>
                <a:latin typeface="Gaegu Bold"/>
              </a:rPr>
              <a:t>Recap of Previous Projects and Achievements (15 minutes):</a:t>
            </a:r>
          </a:p>
        </p:txBody>
      </p:sp>
      <p:sp>
        <p:nvSpPr>
          <p:cNvPr name="TextBox 13" id="13"/>
          <p:cNvSpPr txBox="true"/>
          <p:nvPr/>
        </p:nvSpPr>
        <p:spPr>
          <a:xfrm rot="0">
            <a:off x="2530794" y="5705564"/>
            <a:ext cx="6613206" cy="2512273"/>
          </a:xfrm>
          <a:prstGeom prst="rect">
            <a:avLst/>
          </a:prstGeom>
        </p:spPr>
        <p:txBody>
          <a:bodyPr anchor="t" rtlCol="false" tIns="0" lIns="0" bIns="0" rIns="0">
            <a:spAutoFit/>
          </a:bodyPr>
          <a:lstStyle/>
          <a:p>
            <a:pPr algn="l">
              <a:lnSpc>
                <a:spcPts val="3343"/>
              </a:lnSpc>
            </a:pPr>
            <a:r>
              <a:rPr lang="en-US" sz="2833">
                <a:solidFill>
                  <a:srgbClr val="000000"/>
                </a:solidFill>
                <a:latin typeface="Dosis Semi-Bold"/>
              </a:rPr>
              <a:t>Start the meeting by welcoming everyone and introducing the purpose of the group.</a:t>
            </a:r>
          </a:p>
          <a:p>
            <a:pPr algn="l">
              <a:lnSpc>
                <a:spcPts val="3343"/>
              </a:lnSpc>
            </a:pPr>
            <a:r>
              <a:rPr lang="en-US" sz="2833">
                <a:solidFill>
                  <a:srgbClr val="000000"/>
                </a:solidFill>
                <a:latin typeface="Dosis Semi-Bold"/>
              </a:rPr>
              <a:t>Give each participant a chance to introduce themselves and share why they're passionate about sustainable energy.</a:t>
            </a:r>
          </a:p>
          <a:p>
            <a:pPr algn="l">
              <a:lnSpc>
                <a:spcPts val="3343"/>
              </a:lnSpc>
            </a:pPr>
          </a:p>
        </p:txBody>
      </p:sp>
      <p:sp>
        <p:nvSpPr>
          <p:cNvPr name="TextBox 14" id="14"/>
          <p:cNvSpPr txBox="true"/>
          <p:nvPr/>
        </p:nvSpPr>
        <p:spPr>
          <a:xfrm rot="0">
            <a:off x="9842313" y="5705564"/>
            <a:ext cx="5870769" cy="2512273"/>
          </a:xfrm>
          <a:prstGeom prst="rect">
            <a:avLst/>
          </a:prstGeom>
        </p:spPr>
        <p:txBody>
          <a:bodyPr anchor="t" rtlCol="false" tIns="0" lIns="0" bIns="0" rIns="0">
            <a:spAutoFit/>
          </a:bodyPr>
          <a:lstStyle/>
          <a:p>
            <a:pPr algn="l">
              <a:lnSpc>
                <a:spcPts val="3343"/>
              </a:lnSpc>
            </a:pPr>
            <a:r>
              <a:rPr lang="en-US" sz="2833">
                <a:solidFill>
                  <a:srgbClr val="000000"/>
                </a:solidFill>
                <a:latin typeface="Dosis Semi-Bold"/>
              </a:rPr>
              <a:t>Briefly recap the projects and initiatives the group has undertaken since the last meeting.</a:t>
            </a:r>
          </a:p>
          <a:p>
            <a:pPr algn="l">
              <a:lnSpc>
                <a:spcPts val="3343"/>
              </a:lnSpc>
            </a:pPr>
            <a:r>
              <a:rPr lang="en-US" sz="2833">
                <a:solidFill>
                  <a:srgbClr val="000000"/>
                </a:solidFill>
                <a:latin typeface="Dosis Semi-Bold"/>
              </a:rPr>
              <a:t>Highlight any successes, challenges, and lessons learned.</a:t>
            </a:r>
          </a:p>
          <a:p>
            <a:pPr algn="l">
              <a:lnSpc>
                <a:spcPts val="3343"/>
              </a:lnSpc>
            </a:pPr>
          </a:p>
        </p:txBody>
      </p:sp>
      <p:grpSp>
        <p:nvGrpSpPr>
          <p:cNvPr name="Group 15" id="15"/>
          <p:cNvGrpSpPr/>
          <p:nvPr/>
        </p:nvGrpSpPr>
        <p:grpSpPr>
          <a:xfrm rot="0">
            <a:off x="9842313" y="3244767"/>
            <a:ext cx="801115" cy="801115"/>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444"/>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3830"/>
                </a:lnSpc>
              </a:pPr>
              <a:r>
                <a:rPr lang="en-US" sz="3140">
                  <a:solidFill>
                    <a:srgbClr val="000000"/>
                  </a:solidFill>
                  <a:latin typeface="Bryndan Write"/>
                </a:rPr>
                <a:t>2</a:t>
              </a:r>
            </a:p>
          </p:txBody>
        </p:sp>
      </p:grpSp>
      <p:sp>
        <p:nvSpPr>
          <p:cNvPr name="Freeform 18" id="18"/>
          <p:cNvSpPr/>
          <p:nvPr/>
        </p:nvSpPr>
        <p:spPr>
          <a:xfrm flipH="false" flipV="false" rot="-1981930">
            <a:off x="-2552417" y="-2582795"/>
            <a:ext cx="5104835" cy="5104835"/>
          </a:xfrm>
          <a:custGeom>
            <a:avLst/>
            <a:gdLst/>
            <a:ahLst/>
            <a:cxnLst/>
            <a:rect r="r" b="b" t="t" l="l"/>
            <a:pathLst>
              <a:path h="5104835" w="5104835">
                <a:moveTo>
                  <a:pt x="0" y="0"/>
                </a:moveTo>
                <a:lnTo>
                  <a:pt x="5104834" y="0"/>
                </a:lnTo>
                <a:lnTo>
                  <a:pt x="5104834" y="5104835"/>
                </a:lnTo>
                <a:lnTo>
                  <a:pt x="0" y="51048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467" t="-10431" r="-2216" b="-13067"/>
            </a:stretch>
          </a:blipFill>
        </p:spPr>
      </p:sp>
      <p:sp>
        <p:nvSpPr>
          <p:cNvPr name="Freeform 3" id="3"/>
          <p:cNvSpPr/>
          <p:nvPr/>
        </p:nvSpPr>
        <p:spPr>
          <a:xfrm flipH="false" flipV="false" rot="-10188781">
            <a:off x="15308645" y="8163852"/>
            <a:ext cx="1801268" cy="1654558"/>
          </a:xfrm>
          <a:custGeom>
            <a:avLst/>
            <a:gdLst/>
            <a:ahLst/>
            <a:cxnLst/>
            <a:rect r="r" b="b" t="t" l="l"/>
            <a:pathLst>
              <a:path h="1654558" w="1801268">
                <a:moveTo>
                  <a:pt x="0" y="0"/>
                </a:moveTo>
                <a:lnTo>
                  <a:pt x="1801267" y="0"/>
                </a:lnTo>
                <a:lnTo>
                  <a:pt x="1801267" y="1654558"/>
                </a:lnTo>
                <a:lnTo>
                  <a:pt x="0" y="1654558"/>
                </a:lnTo>
                <a:lnTo>
                  <a:pt x="0" y="0"/>
                </a:lnTo>
                <a:close/>
              </a:path>
            </a:pathLst>
          </a:custGeom>
          <a:blipFill>
            <a:blip r:embed="rId3"/>
            <a:stretch>
              <a:fillRect l="0" t="0" r="0" b="0"/>
            </a:stretch>
          </a:blipFill>
        </p:spPr>
      </p:sp>
      <p:sp>
        <p:nvSpPr>
          <p:cNvPr name="Freeform 4" id="4"/>
          <p:cNvSpPr/>
          <p:nvPr/>
        </p:nvSpPr>
        <p:spPr>
          <a:xfrm flipH="false" flipV="false" rot="1727943">
            <a:off x="13226996" y="8411939"/>
            <a:ext cx="2197136" cy="1158385"/>
          </a:xfrm>
          <a:custGeom>
            <a:avLst/>
            <a:gdLst/>
            <a:ahLst/>
            <a:cxnLst/>
            <a:rect r="r" b="b" t="t" l="l"/>
            <a:pathLst>
              <a:path h="1158385" w="2197136">
                <a:moveTo>
                  <a:pt x="0" y="0"/>
                </a:moveTo>
                <a:lnTo>
                  <a:pt x="2197135" y="0"/>
                </a:lnTo>
                <a:lnTo>
                  <a:pt x="2197135" y="1158385"/>
                </a:lnTo>
                <a:lnTo>
                  <a:pt x="0" y="1158385"/>
                </a:lnTo>
                <a:lnTo>
                  <a:pt x="0" y="0"/>
                </a:lnTo>
                <a:close/>
              </a:path>
            </a:pathLst>
          </a:custGeom>
          <a:blipFill>
            <a:blip r:embed="rId4"/>
            <a:stretch>
              <a:fillRect l="0" t="0" r="0" b="0"/>
            </a:stretch>
          </a:blipFill>
        </p:spPr>
      </p:sp>
      <p:sp>
        <p:nvSpPr>
          <p:cNvPr name="AutoShape 5" id="5"/>
          <p:cNvSpPr/>
          <p:nvPr/>
        </p:nvSpPr>
        <p:spPr>
          <a:xfrm>
            <a:off x="2429110" y="2123560"/>
            <a:ext cx="13138165" cy="0"/>
          </a:xfrm>
          <a:prstGeom prst="line">
            <a:avLst/>
          </a:prstGeom>
          <a:ln cap="flat" w="38100">
            <a:solidFill>
              <a:srgbClr val="000000"/>
            </a:solidFill>
            <a:prstDash val="solid"/>
            <a:headEnd type="none" len="sm" w="sm"/>
            <a:tailEnd type="none" len="sm" w="sm"/>
          </a:ln>
        </p:spPr>
      </p:sp>
      <p:grpSp>
        <p:nvGrpSpPr>
          <p:cNvPr name="Group 6" id="6"/>
          <p:cNvGrpSpPr/>
          <p:nvPr/>
        </p:nvGrpSpPr>
        <p:grpSpPr>
          <a:xfrm rot="0">
            <a:off x="2441915" y="1723003"/>
            <a:ext cx="801115" cy="8011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444"/>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3836"/>
                </a:lnSpc>
              </a:pPr>
              <a:r>
                <a:rPr lang="en-US" sz="3144">
                  <a:solidFill>
                    <a:srgbClr val="000000"/>
                  </a:solidFill>
                  <a:latin typeface="Bryndan Write"/>
                </a:rPr>
                <a:t>3</a:t>
              </a:r>
            </a:p>
          </p:txBody>
        </p:sp>
      </p:grpSp>
      <p:sp>
        <p:nvSpPr>
          <p:cNvPr name="TextBox 9" id="9"/>
          <p:cNvSpPr txBox="true"/>
          <p:nvPr/>
        </p:nvSpPr>
        <p:spPr>
          <a:xfrm rot="0">
            <a:off x="10744788" y="2675187"/>
            <a:ext cx="5358055" cy="2141220"/>
          </a:xfrm>
          <a:prstGeom prst="rect">
            <a:avLst/>
          </a:prstGeom>
        </p:spPr>
        <p:txBody>
          <a:bodyPr anchor="t" rtlCol="false" tIns="0" lIns="0" bIns="0" rIns="0">
            <a:spAutoFit/>
          </a:bodyPr>
          <a:lstStyle/>
          <a:p>
            <a:pPr algn="l">
              <a:lnSpc>
                <a:spcPts val="3999"/>
              </a:lnSpc>
            </a:pPr>
            <a:r>
              <a:rPr lang="en-US" sz="3999" spc="-239" u="sng">
                <a:solidFill>
                  <a:srgbClr val="000000"/>
                </a:solidFill>
                <a:latin typeface="Gaegu Bold"/>
              </a:rPr>
              <a:t>Brainstorming Session: Future Projects and Ideas (30 minutes)</a:t>
            </a:r>
          </a:p>
          <a:p>
            <a:pPr algn="l">
              <a:lnSpc>
                <a:spcPts val="4099"/>
              </a:lnSpc>
            </a:pPr>
          </a:p>
        </p:txBody>
      </p:sp>
      <p:sp>
        <p:nvSpPr>
          <p:cNvPr name="TextBox 10" id="10"/>
          <p:cNvSpPr txBox="true"/>
          <p:nvPr/>
        </p:nvSpPr>
        <p:spPr>
          <a:xfrm rot="0">
            <a:off x="2429110" y="2675187"/>
            <a:ext cx="5596694" cy="1625600"/>
          </a:xfrm>
          <a:prstGeom prst="rect">
            <a:avLst/>
          </a:prstGeom>
        </p:spPr>
        <p:txBody>
          <a:bodyPr anchor="t" rtlCol="false" tIns="0" lIns="0" bIns="0" rIns="0">
            <a:spAutoFit/>
          </a:bodyPr>
          <a:lstStyle/>
          <a:p>
            <a:pPr algn="l">
              <a:lnSpc>
                <a:spcPts val="3999"/>
              </a:lnSpc>
            </a:pPr>
            <a:r>
              <a:rPr lang="en-US" sz="3999" spc="-239" u="sng">
                <a:solidFill>
                  <a:srgbClr val="000000"/>
                </a:solidFill>
                <a:latin typeface="Gaegu Bold"/>
              </a:rPr>
              <a:t>Presentation on Local Energy Initiatives (20 minutes)</a:t>
            </a:r>
          </a:p>
          <a:p>
            <a:pPr algn="l">
              <a:lnSpc>
                <a:spcPts val="3999"/>
              </a:lnSpc>
            </a:pPr>
          </a:p>
        </p:txBody>
      </p:sp>
      <p:sp>
        <p:nvSpPr>
          <p:cNvPr name="TextBox 11" id="11"/>
          <p:cNvSpPr txBox="true"/>
          <p:nvPr/>
        </p:nvSpPr>
        <p:spPr>
          <a:xfrm rot="0">
            <a:off x="2429110" y="4536262"/>
            <a:ext cx="5410780" cy="2931373"/>
          </a:xfrm>
          <a:prstGeom prst="rect">
            <a:avLst/>
          </a:prstGeom>
        </p:spPr>
        <p:txBody>
          <a:bodyPr anchor="t" rtlCol="false" tIns="0" lIns="0" bIns="0" rIns="0">
            <a:spAutoFit/>
          </a:bodyPr>
          <a:lstStyle/>
          <a:p>
            <a:pPr algn="l">
              <a:lnSpc>
                <a:spcPts val="3343"/>
              </a:lnSpc>
            </a:pPr>
            <a:r>
              <a:rPr lang="en-US" sz="2833">
                <a:solidFill>
                  <a:srgbClr val="000000"/>
                </a:solidFill>
                <a:latin typeface="Dosis Semi-Bold"/>
              </a:rPr>
              <a:t>Invite a guest speaker or member of the community to present on local energy initiatives and opportunities.</a:t>
            </a:r>
          </a:p>
          <a:p>
            <a:pPr algn="l">
              <a:lnSpc>
                <a:spcPts val="3343"/>
              </a:lnSpc>
            </a:pPr>
            <a:r>
              <a:rPr lang="en-US" sz="2833">
                <a:solidFill>
                  <a:srgbClr val="000000"/>
                </a:solidFill>
                <a:latin typeface="Dosis Semi-Bold"/>
              </a:rPr>
              <a:t>Encourage questions and discussion to deepen understanding and inspire action.</a:t>
            </a:r>
          </a:p>
          <a:p>
            <a:pPr algn="l">
              <a:lnSpc>
                <a:spcPts val="3343"/>
              </a:lnSpc>
            </a:pPr>
          </a:p>
        </p:txBody>
      </p:sp>
      <p:sp>
        <p:nvSpPr>
          <p:cNvPr name="TextBox 12" id="12"/>
          <p:cNvSpPr txBox="true"/>
          <p:nvPr/>
        </p:nvSpPr>
        <p:spPr>
          <a:xfrm rot="0">
            <a:off x="10744788" y="4536262"/>
            <a:ext cx="4822487" cy="3769573"/>
          </a:xfrm>
          <a:prstGeom prst="rect">
            <a:avLst/>
          </a:prstGeom>
        </p:spPr>
        <p:txBody>
          <a:bodyPr anchor="t" rtlCol="false" tIns="0" lIns="0" bIns="0" rIns="0">
            <a:spAutoFit/>
          </a:bodyPr>
          <a:lstStyle/>
          <a:p>
            <a:pPr algn="just">
              <a:lnSpc>
                <a:spcPts val="3343"/>
              </a:lnSpc>
            </a:pPr>
            <a:r>
              <a:rPr lang="en-US" sz="2833">
                <a:solidFill>
                  <a:srgbClr val="000000"/>
                </a:solidFill>
                <a:latin typeface="Dosis Semi-Bold"/>
              </a:rPr>
              <a:t>Facilitate a brainstorming session where participants can share their ideas for future projects and initiatives.</a:t>
            </a:r>
          </a:p>
          <a:p>
            <a:pPr algn="just">
              <a:lnSpc>
                <a:spcPts val="3343"/>
              </a:lnSpc>
            </a:pPr>
            <a:r>
              <a:rPr lang="en-US" sz="2833">
                <a:solidFill>
                  <a:srgbClr val="000000"/>
                </a:solidFill>
                <a:latin typeface="Dosis Semi-Bold"/>
              </a:rPr>
              <a:t>Encourage creativity and collaboration, and explore ways to address current energy challenges in the community.</a:t>
            </a:r>
          </a:p>
          <a:p>
            <a:pPr algn="just">
              <a:lnSpc>
                <a:spcPts val="3343"/>
              </a:lnSpc>
            </a:pPr>
          </a:p>
        </p:txBody>
      </p:sp>
      <p:grpSp>
        <p:nvGrpSpPr>
          <p:cNvPr name="Group 13" id="13"/>
          <p:cNvGrpSpPr/>
          <p:nvPr/>
        </p:nvGrpSpPr>
        <p:grpSpPr>
          <a:xfrm rot="0">
            <a:off x="10744788" y="1723003"/>
            <a:ext cx="801115" cy="801115"/>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444"/>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3836"/>
                </a:lnSpc>
              </a:pPr>
              <a:r>
                <a:rPr lang="en-US" sz="3144">
                  <a:solidFill>
                    <a:srgbClr val="000000"/>
                  </a:solidFill>
                  <a:latin typeface="Bryndan Write"/>
                </a:rPr>
                <a:t>4</a:t>
              </a:r>
            </a:p>
          </p:txBody>
        </p:sp>
      </p:grpSp>
      <p:sp>
        <p:nvSpPr>
          <p:cNvPr name="Freeform 16" id="16"/>
          <p:cNvSpPr/>
          <p:nvPr/>
        </p:nvSpPr>
        <p:spPr>
          <a:xfrm flipH="false" flipV="false" rot="-1981930">
            <a:off x="-2654101" y="-2590873"/>
            <a:ext cx="5104835" cy="5104835"/>
          </a:xfrm>
          <a:custGeom>
            <a:avLst/>
            <a:gdLst/>
            <a:ahLst/>
            <a:cxnLst/>
            <a:rect r="r" b="b" t="t" l="l"/>
            <a:pathLst>
              <a:path h="5104835" w="5104835">
                <a:moveTo>
                  <a:pt x="0" y="0"/>
                </a:moveTo>
                <a:lnTo>
                  <a:pt x="5104835" y="0"/>
                </a:lnTo>
                <a:lnTo>
                  <a:pt x="5104835" y="5104835"/>
                </a:lnTo>
                <a:lnTo>
                  <a:pt x="0" y="51048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467" t="-10431" r="-2216" b="-13067"/>
            </a:stretch>
          </a:blipFill>
        </p:spPr>
      </p:sp>
      <p:sp>
        <p:nvSpPr>
          <p:cNvPr name="Freeform 3" id="3"/>
          <p:cNvSpPr/>
          <p:nvPr/>
        </p:nvSpPr>
        <p:spPr>
          <a:xfrm flipH="false" flipV="false" rot="-10669463">
            <a:off x="128066" y="6272689"/>
            <a:ext cx="1801268" cy="1654558"/>
          </a:xfrm>
          <a:custGeom>
            <a:avLst/>
            <a:gdLst/>
            <a:ahLst/>
            <a:cxnLst/>
            <a:rect r="r" b="b" t="t" l="l"/>
            <a:pathLst>
              <a:path h="1654558" w="1801268">
                <a:moveTo>
                  <a:pt x="0" y="0"/>
                </a:moveTo>
                <a:lnTo>
                  <a:pt x="1801268" y="0"/>
                </a:lnTo>
                <a:lnTo>
                  <a:pt x="1801268" y="1654558"/>
                </a:lnTo>
                <a:lnTo>
                  <a:pt x="0" y="1654558"/>
                </a:lnTo>
                <a:lnTo>
                  <a:pt x="0" y="0"/>
                </a:lnTo>
                <a:close/>
              </a:path>
            </a:pathLst>
          </a:custGeom>
          <a:blipFill>
            <a:blip r:embed="rId3"/>
            <a:stretch>
              <a:fillRect l="0" t="0" r="0" b="0"/>
            </a:stretch>
          </a:blipFill>
        </p:spPr>
      </p:sp>
      <p:sp>
        <p:nvSpPr>
          <p:cNvPr name="Freeform 4" id="4"/>
          <p:cNvSpPr/>
          <p:nvPr/>
        </p:nvSpPr>
        <p:spPr>
          <a:xfrm flipH="false" flipV="false" rot="1727943">
            <a:off x="603878" y="8420017"/>
            <a:ext cx="2197136" cy="1158385"/>
          </a:xfrm>
          <a:custGeom>
            <a:avLst/>
            <a:gdLst/>
            <a:ahLst/>
            <a:cxnLst/>
            <a:rect r="r" b="b" t="t" l="l"/>
            <a:pathLst>
              <a:path h="1158385" w="2197136">
                <a:moveTo>
                  <a:pt x="0" y="0"/>
                </a:moveTo>
                <a:lnTo>
                  <a:pt x="2197136" y="0"/>
                </a:lnTo>
                <a:lnTo>
                  <a:pt x="2197136" y="1158385"/>
                </a:lnTo>
                <a:lnTo>
                  <a:pt x="0" y="1158385"/>
                </a:lnTo>
                <a:lnTo>
                  <a:pt x="0" y="0"/>
                </a:lnTo>
                <a:close/>
              </a:path>
            </a:pathLst>
          </a:custGeom>
          <a:blipFill>
            <a:blip r:embed="rId4"/>
            <a:stretch>
              <a:fillRect l="0" t="0" r="0" b="0"/>
            </a:stretch>
          </a:blipFill>
        </p:spPr>
      </p:sp>
      <p:sp>
        <p:nvSpPr>
          <p:cNvPr name="AutoShape 5" id="5"/>
          <p:cNvSpPr/>
          <p:nvPr/>
        </p:nvSpPr>
        <p:spPr>
          <a:xfrm>
            <a:off x="2639530" y="2572268"/>
            <a:ext cx="13138165" cy="0"/>
          </a:xfrm>
          <a:prstGeom prst="line">
            <a:avLst/>
          </a:prstGeom>
          <a:ln cap="flat" w="38100">
            <a:solidFill>
              <a:srgbClr val="000000"/>
            </a:solidFill>
            <a:prstDash val="solid"/>
            <a:headEnd type="none" len="sm" w="sm"/>
            <a:tailEnd type="none" len="sm" w="sm"/>
          </a:ln>
        </p:spPr>
      </p:sp>
      <p:grpSp>
        <p:nvGrpSpPr>
          <p:cNvPr name="Group 6" id="6"/>
          <p:cNvGrpSpPr/>
          <p:nvPr/>
        </p:nvGrpSpPr>
        <p:grpSpPr>
          <a:xfrm rot="0">
            <a:off x="2483407" y="2120295"/>
            <a:ext cx="801115" cy="8011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444"/>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3836"/>
                </a:lnSpc>
              </a:pPr>
              <a:r>
                <a:rPr lang="en-US" sz="3144">
                  <a:solidFill>
                    <a:srgbClr val="000000"/>
                  </a:solidFill>
                  <a:latin typeface="Bryndan Write"/>
                </a:rPr>
                <a:t>5</a:t>
              </a:r>
            </a:p>
          </p:txBody>
        </p:sp>
      </p:grpSp>
      <p:sp>
        <p:nvSpPr>
          <p:cNvPr name="TextBox 9" id="9"/>
          <p:cNvSpPr txBox="true"/>
          <p:nvPr/>
        </p:nvSpPr>
        <p:spPr>
          <a:xfrm rot="0">
            <a:off x="2483407" y="3137553"/>
            <a:ext cx="5120792" cy="2130425"/>
          </a:xfrm>
          <a:prstGeom prst="rect">
            <a:avLst/>
          </a:prstGeom>
        </p:spPr>
        <p:txBody>
          <a:bodyPr anchor="t" rtlCol="false" tIns="0" lIns="0" bIns="0" rIns="0">
            <a:spAutoFit/>
          </a:bodyPr>
          <a:lstStyle/>
          <a:p>
            <a:pPr algn="l">
              <a:lnSpc>
                <a:spcPts val="3999"/>
              </a:lnSpc>
            </a:pPr>
            <a:r>
              <a:rPr lang="en-US" sz="3999" spc="-239" u="sng">
                <a:solidFill>
                  <a:srgbClr val="000000"/>
                </a:solidFill>
                <a:latin typeface="Gaegu Bold"/>
              </a:rPr>
              <a:t>Breakout Groups: Project Planning and Discussion (25 minutes)</a:t>
            </a:r>
          </a:p>
          <a:p>
            <a:pPr algn="l">
              <a:lnSpc>
                <a:spcPts val="3999"/>
              </a:lnSpc>
            </a:pPr>
          </a:p>
        </p:txBody>
      </p:sp>
      <p:sp>
        <p:nvSpPr>
          <p:cNvPr name="TextBox 10" id="10"/>
          <p:cNvSpPr txBox="true"/>
          <p:nvPr/>
        </p:nvSpPr>
        <p:spPr>
          <a:xfrm rot="0">
            <a:off x="10801660" y="3137553"/>
            <a:ext cx="4749328" cy="1625600"/>
          </a:xfrm>
          <a:prstGeom prst="rect">
            <a:avLst/>
          </a:prstGeom>
        </p:spPr>
        <p:txBody>
          <a:bodyPr anchor="t" rtlCol="false" tIns="0" lIns="0" bIns="0" rIns="0">
            <a:spAutoFit/>
          </a:bodyPr>
          <a:lstStyle/>
          <a:p>
            <a:pPr algn="l">
              <a:lnSpc>
                <a:spcPts val="3999"/>
              </a:lnSpc>
            </a:pPr>
            <a:r>
              <a:rPr lang="en-US" sz="3999" spc="-239" u="sng">
                <a:solidFill>
                  <a:srgbClr val="000000"/>
                </a:solidFill>
                <a:latin typeface="Gaegu Bold"/>
              </a:rPr>
              <a:t>Report Back and Feedback (15 minutes)</a:t>
            </a:r>
          </a:p>
          <a:p>
            <a:pPr algn="l">
              <a:lnSpc>
                <a:spcPts val="3999"/>
              </a:lnSpc>
            </a:pPr>
          </a:p>
        </p:txBody>
      </p:sp>
      <p:sp>
        <p:nvSpPr>
          <p:cNvPr name="TextBox 11" id="11"/>
          <p:cNvSpPr txBox="true"/>
          <p:nvPr/>
        </p:nvSpPr>
        <p:spPr>
          <a:xfrm rot="0">
            <a:off x="2483407" y="5029468"/>
            <a:ext cx="5698885" cy="2931373"/>
          </a:xfrm>
          <a:prstGeom prst="rect">
            <a:avLst/>
          </a:prstGeom>
        </p:spPr>
        <p:txBody>
          <a:bodyPr anchor="t" rtlCol="false" tIns="0" lIns="0" bIns="0" rIns="0">
            <a:spAutoFit/>
          </a:bodyPr>
          <a:lstStyle/>
          <a:p>
            <a:pPr algn="l">
              <a:lnSpc>
                <a:spcPts val="3343"/>
              </a:lnSpc>
            </a:pPr>
            <a:r>
              <a:rPr lang="en-US" sz="2833">
                <a:solidFill>
                  <a:srgbClr val="000000"/>
                </a:solidFill>
                <a:latin typeface="Dosis Semi-Bold"/>
              </a:rPr>
              <a:t>Divide participants into small breakout groups based on their interests and project preferences.</a:t>
            </a:r>
          </a:p>
          <a:p>
            <a:pPr algn="l">
              <a:lnSpc>
                <a:spcPts val="3343"/>
              </a:lnSpc>
            </a:pPr>
            <a:r>
              <a:rPr lang="en-US" sz="2833">
                <a:solidFill>
                  <a:srgbClr val="000000"/>
                </a:solidFill>
                <a:latin typeface="Dosis Semi-Bold"/>
              </a:rPr>
              <a:t>Allow each group time to discuss and plan specific projects, assign tasks, and set goals.</a:t>
            </a:r>
          </a:p>
          <a:p>
            <a:pPr algn="l">
              <a:lnSpc>
                <a:spcPts val="3343"/>
              </a:lnSpc>
            </a:pPr>
          </a:p>
        </p:txBody>
      </p:sp>
      <p:sp>
        <p:nvSpPr>
          <p:cNvPr name="TextBox 12" id="12"/>
          <p:cNvSpPr txBox="true"/>
          <p:nvPr/>
        </p:nvSpPr>
        <p:spPr>
          <a:xfrm rot="0">
            <a:off x="10801660" y="5029468"/>
            <a:ext cx="4749328" cy="3769573"/>
          </a:xfrm>
          <a:prstGeom prst="rect">
            <a:avLst/>
          </a:prstGeom>
        </p:spPr>
        <p:txBody>
          <a:bodyPr anchor="t" rtlCol="false" tIns="0" lIns="0" bIns="0" rIns="0">
            <a:spAutoFit/>
          </a:bodyPr>
          <a:lstStyle/>
          <a:p>
            <a:pPr algn="l">
              <a:lnSpc>
                <a:spcPts val="3343"/>
              </a:lnSpc>
            </a:pPr>
            <a:r>
              <a:rPr lang="en-US" sz="2833">
                <a:solidFill>
                  <a:srgbClr val="000000"/>
                </a:solidFill>
                <a:latin typeface="Dosis Semi-Bold"/>
              </a:rPr>
              <a:t>Reconvene as a whole group and allow each breakout group to share their project ideas and plans.</a:t>
            </a:r>
          </a:p>
          <a:p>
            <a:pPr algn="l">
              <a:lnSpc>
                <a:spcPts val="3343"/>
              </a:lnSpc>
            </a:pPr>
            <a:r>
              <a:rPr lang="en-US" sz="2833">
                <a:solidFill>
                  <a:srgbClr val="000000"/>
                </a:solidFill>
                <a:latin typeface="Dosis Semi-Bold"/>
              </a:rPr>
              <a:t>Encourage feedback and suggestions from the larger group to refine and improve project proposals.</a:t>
            </a:r>
          </a:p>
          <a:p>
            <a:pPr algn="l">
              <a:lnSpc>
                <a:spcPts val="3343"/>
              </a:lnSpc>
            </a:pPr>
          </a:p>
        </p:txBody>
      </p:sp>
      <p:grpSp>
        <p:nvGrpSpPr>
          <p:cNvPr name="Group 13" id="13"/>
          <p:cNvGrpSpPr/>
          <p:nvPr/>
        </p:nvGrpSpPr>
        <p:grpSpPr>
          <a:xfrm rot="0">
            <a:off x="10801660" y="2223126"/>
            <a:ext cx="801115" cy="801115"/>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444"/>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3836"/>
                </a:lnSpc>
              </a:pPr>
              <a:r>
                <a:rPr lang="en-US" sz="3144">
                  <a:solidFill>
                    <a:srgbClr val="000000"/>
                  </a:solidFill>
                  <a:latin typeface="Bryndan Write"/>
                </a:rPr>
                <a:t>6</a:t>
              </a:r>
            </a:p>
          </p:txBody>
        </p:sp>
      </p:grpSp>
      <p:sp>
        <p:nvSpPr>
          <p:cNvPr name="Freeform 16" id="16"/>
          <p:cNvSpPr/>
          <p:nvPr/>
        </p:nvSpPr>
        <p:spPr>
          <a:xfrm flipH="false" flipV="false" rot="-1981930">
            <a:off x="15627947" y="6890751"/>
            <a:ext cx="5104835" cy="5104835"/>
          </a:xfrm>
          <a:custGeom>
            <a:avLst/>
            <a:gdLst/>
            <a:ahLst/>
            <a:cxnLst/>
            <a:rect r="r" b="b" t="t" l="l"/>
            <a:pathLst>
              <a:path h="5104835" w="5104835">
                <a:moveTo>
                  <a:pt x="0" y="0"/>
                </a:moveTo>
                <a:lnTo>
                  <a:pt x="5104835" y="0"/>
                </a:lnTo>
                <a:lnTo>
                  <a:pt x="5104835" y="5104835"/>
                </a:lnTo>
                <a:lnTo>
                  <a:pt x="0" y="51048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467" t="-10431" r="-2216" b="-13067"/>
            </a:stretch>
          </a:blipFill>
        </p:spPr>
      </p:sp>
      <p:sp>
        <p:nvSpPr>
          <p:cNvPr name="Freeform 3" id="3"/>
          <p:cNvSpPr/>
          <p:nvPr/>
        </p:nvSpPr>
        <p:spPr>
          <a:xfrm flipH="false" flipV="false" rot="8100000">
            <a:off x="2043523" y="241050"/>
            <a:ext cx="1801268" cy="1654558"/>
          </a:xfrm>
          <a:custGeom>
            <a:avLst/>
            <a:gdLst/>
            <a:ahLst/>
            <a:cxnLst/>
            <a:rect r="r" b="b" t="t" l="l"/>
            <a:pathLst>
              <a:path h="1654558" w="1801268">
                <a:moveTo>
                  <a:pt x="0" y="0"/>
                </a:moveTo>
                <a:lnTo>
                  <a:pt x="1801267" y="0"/>
                </a:lnTo>
                <a:lnTo>
                  <a:pt x="1801267" y="1654558"/>
                </a:lnTo>
                <a:lnTo>
                  <a:pt x="0" y="1654558"/>
                </a:lnTo>
                <a:lnTo>
                  <a:pt x="0" y="0"/>
                </a:lnTo>
                <a:close/>
              </a:path>
            </a:pathLst>
          </a:custGeom>
          <a:blipFill>
            <a:blip r:embed="rId3"/>
            <a:stretch>
              <a:fillRect l="0" t="0" r="0" b="0"/>
            </a:stretch>
          </a:blipFill>
        </p:spPr>
      </p:sp>
      <p:sp>
        <p:nvSpPr>
          <p:cNvPr name="Freeform 4" id="4"/>
          <p:cNvSpPr/>
          <p:nvPr/>
        </p:nvSpPr>
        <p:spPr>
          <a:xfrm flipH="false" flipV="false" rot="1727943">
            <a:off x="603878" y="1217323"/>
            <a:ext cx="2197136" cy="1158385"/>
          </a:xfrm>
          <a:custGeom>
            <a:avLst/>
            <a:gdLst/>
            <a:ahLst/>
            <a:cxnLst/>
            <a:rect r="r" b="b" t="t" l="l"/>
            <a:pathLst>
              <a:path h="1158385" w="2197136">
                <a:moveTo>
                  <a:pt x="0" y="0"/>
                </a:moveTo>
                <a:lnTo>
                  <a:pt x="2197136" y="0"/>
                </a:lnTo>
                <a:lnTo>
                  <a:pt x="2197136" y="1158385"/>
                </a:lnTo>
                <a:lnTo>
                  <a:pt x="0" y="1158385"/>
                </a:lnTo>
                <a:lnTo>
                  <a:pt x="0" y="0"/>
                </a:lnTo>
                <a:close/>
              </a:path>
            </a:pathLst>
          </a:custGeom>
          <a:blipFill>
            <a:blip r:embed="rId4"/>
            <a:stretch>
              <a:fillRect l="0" t="0" r="0" b="0"/>
            </a:stretch>
          </a:blipFill>
        </p:spPr>
      </p:sp>
      <p:sp>
        <p:nvSpPr>
          <p:cNvPr name="AutoShape 5" id="5"/>
          <p:cNvSpPr/>
          <p:nvPr/>
        </p:nvSpPr>
        <p:spPr>
          <a:xfrm>
            <a:off x="2652979" y="3694166"/>
            <a:ext cx="13138165" cy="0"/>
          </a:xfrm>
          <a:prstGeom prst="line">
            <a:avLst/>
          </a:prstGeom>
          <a:ln cap="flat" w="38100">
            <a:solidFill>
              <a:srgbClr val="000000"/>
            </a:solidFill>
            <a:prstDash val="solid"/>
            <a:headEnd type="none" len="sm" w="sm"/>
            <a:tailEnd type="none" len="sm" w="sm"/>
          </a:ln>
        </p:spPr>
      </p:sp>
      <p:grpSp>
        <p:nvGrpSpPr>
          <p:cNvPr name="Group 6" id="6"/>
          <p:cNvGrpSpPr/>
          <p:nvPr/>
        </p:nvGrpSpPr>
        <p:grpSpPr>
          <a:xfrm rot="0">
            <a:off x="2496856" y="3242194"/>
            <a:ext cx="801115" cy="8011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444"/>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3836"/>
                </a:lnSpc>
              </a:pPr>
              <a:r>
                <a:rPr lang="en-US" sz="3144">
                  <a:solidFill>
                    <a:srgbClr val="000000"/>
                  </a:solidFill>
                  <a:latin typeface="Bryndan Write"/>
                </a:rPr>
                <a:t>7</a:t>
              </a:r>
            </a:p>
          </p:txBody>
        </p:sp>
      </p:grpSp>
      <p:sp>
        <p:nvSpPr>
          <p:cNvPr name="TextBox 9" id="9"/>
          <p:cNvSpPr txBox="true"/>
          <p:nvPr/>
        </p:nvSpPr>
        <p:spPr>
          <a:xfrm rot="0">
            <a:off x="2496856" y="4443358"/>
            <a:ext cx="5375002" cy="1772919"/>
          </a:xfrm>
          <a:prstGeom prst="rect">
            <a:avLst/>
          </a:prstGeom>
        </p:spPr>
        <p:txBody>
          <a:bodyPr anchor="t" rtlCol="false" tIns="0" lIns="0" bIns="0" rIns="0">
            <a:spAutoFit/>
          </a:bodyPr>
          <a:lstStyle/>
          <a:p>
            <a:pPr algn="l">
              <a:lnSpc>
                <a:spcPts val="3999"/>
              </a:lnSpc>
            </a:pPr>
            <a:r>
              <a:rPr lang="en-US" sz="3999" spc="-239" u="sng">
                <a:solidFill>
                  <a:srgbClr val="000000"/>
                </a:solidFill>
                <a:latin typeface="Gaegu Bold"/>
              </a:rPr>
              <a:t>Next Steps and Action Plan (10 minutes)</a:t>
            </a:r>
          </a:p>
          <a:p>
            <a:pPr algn="l">
              <a:lnSpc>
                <a:spcPts val="5099"/>
              </a:lnSpc>
            </a:pPr>
          </a:p>
        </p:txBody>
      </p:sp>
      <p:sp>
        <p:nvSpPr>
          <p:cNvPr name="TextBox 10" id="10"/>
          <p:cNvSpPr txBox="true"/>
          <p:nvPr/>
        </p:nvSpPr>
        <p:spPr>
          <a:xfrm rot="0">
            <a:off x="10815109" y="4443358"/>
            <a:ext cx="5088274" cy="1772919"/>
          </a:xfrm>
          <a:prstGeom prst="rect">
            <a:avLst/>
          </a:prstGeom>
        </p:spPr>
        <p:txBody>
          <a:bodyPr anchor="t" rtlCol="false" tIns="0" lIns="0" bIns="0" rIns="0">
            <a:spAutoFit/>
          </a:bodyPr>
          <a:lstStyle/>
          <a:p>
            <a:pPr algn="l">
              <a:lnSpc>
                <a:spcPts val="3999"/>
              </a:lnSpc>
            </a:pPr>
            <a:r>
              <a:rPr lang="en-US" sz="3999" spc="-239" u="sng">
                <a:solidFill>
                  <a:srgbClr val="000000"/>
                </a:solidFill>
                <a:latin typeface="Gaegu Bold"/>
              </a:rPr>
              <a:t>Closing Remarks and Networking (10 minutes)</a:t>
            </a:r>
          </a:p>
          <a:p>
            <a:pPr algn="l">
              <a:lnSpc>
                <a:spcPts val="5099"/>
              </a:lnSpc>
            </a:pPr>
          </a:p>
        </p:txBody>
      </p:sp>
      <p:sp>
        <p:nvSpPr>
          <p:cNvPr name="TextBox 11" id="11"/>
          <p:cNvSpPr txBox="true"/>
          <p:nvPr/>
        </p:nvSpPr>
        <p:spPr>
          <a:xfrm rot="0">
            <a:off x="2511920" y="6146482"/>
            <a:ext cx="5648043" cy="2512273"/>
          </a:xfrm>
          <a:prstGeom prst="rect">
            <a:avLst/>
          </a:prstGeom>
        </p:spPr>
        <p:txBody>
          <a:bodyPr anchor="t" rtlCol="false" tIns="0" lIns="0" bIns="0" rIns="0">
            <a:spAutoFit/>
          </a:bodyPr>
          <a:lstStyle/>
          <a:p>
            <a:pPr algn="l">
              <a:lnSpc>
                <a:spcPts val="3343"/>
              </a:lnSpc>
            </a:pPr>
            <a:r>
              <a:rPr lang="en-US" sz="2833">
                <a:solidFill>
                  <a:srgbClr val="000000"/>
                </a:solidFill>
                <a:latin typeface="Dosis Semi-Bold"/>
              </a:rPr>
              <a:t>Summarize the key takeaways from the meeting and outline the next steps.</a:t>
            </a:r>
          </a:p>
          <a:p>
            <a:pPr algn="l">
              <a:lnSpc>
                <a:spcPts val="3343"/>
              </a:lnSpc>
            </a:pPr>
            <a:r>
              <a:rPr lang="en-US" sz="2833">
                <a:solidFill>
                  <a:srgbClr val="000000"/>
                </a:solidFill>
                <a:latin typeface="Dosis Semi-Bold"/>
              </a:rPr>
              <a:t>Assign responsibilities, establish timelines, and create an action plan to move forward with selected projects.</a:t>
            </a:r>
          </a:p>
          <a:p>
            <a:pPr algn="l">
              <a:lnSpc>
                <a:spcPts val="3343"/>
              </a:lnSpc>
            </a:pPr>
          </a:p>
        </p:txBody>
      </p:sp>
      <p:sp>
        <p:nvSpPr>
          <p:cNvPr name="TextBox 12" id="12"/>
          <p:cNvSpPr txBox="true"/>
          <p:nvPr/>
        </p:nvSpPr>
        <p:spPr>
          <a:xfrm rot="0">
            <a:off x="10879980" y="5936932"/>
            <a:ext cx="4911164" cy="2931373"/>
          </a:xfrm>
          <a:prstGeom prst="rect">
            <a:avLst/>
          </a:prstGeom>
        </p:spPr>
        <p:txBody>
          <a:bodyPr anchor="t" rtlCol="false" tIns="0" lIns="0" bIns="0" rIns="0">
            <a:spAutoFit/>
          </a:bodyPr>
          <a:lstStyle/>
          <a:p>
            <a:pPr algn="l">
              <a:lnSpc>
                <a:spcPts val="3343"/>
              </a:lnSpc>
            </a:pPr>
            <a:r>
              <a:rPr lang="en-US" sz="2833">
                <a:solidFill>
                  <a:srgbClr val="000000"/>
                </a:solidFill>
                <a:latin typeface="Dosis Semi-Bold"/>
              </a:rPr>
              <a:t>Thank everyone for their participation and enthusiasm.</a:t>
            </a:r>
          </a:p>
          <a:p>
            <a:pPr algn="l">
              <a:lnSpc>
                <a:spcPts val="3343"/>
              </a:lnSpc>
            </a:pPr>
            <a:r>
              <a:rPr lang="en-US" sz="2833">
                <a:solidFill>
                  <a:srgbClr val="000000"/>
                </a:solidFill>
                <a:latin typeface="Dosis Semi-Bold"/>
              </a:rPr>
              <a:t>Encourage participants to stay connected, exchange contact information, and continue collaborating outside of meetings.</a:t>
            </a:r>
          </a:p>
          <a:p>
            <a:pPr algn="l">
              <a:lnSpc>
                <a:spcPts val="3343"/>
              </a:lnSpc>
            </a:pPr>
          </a:p>
        </p:txBody>
      </p:sp>
      <p:grpSp>
        <p:nvGrpSpPr>
          <p:cNvPr name="Group 13" id="13"/>
          <p:cNvGrpSpPr/>
          <p:nvPr/>
        </p:nvGrpSpPr>
        <p:grpSpPr>
          <a:xfrm rot="0">
            <a:off x="10815109" y="3345025"/>
            <a:ext cx="801115" cy="801115"/>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444"/>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3836"/>
                </a:lnSpc>
              </a:pPr>
              <a:r>
                <a:rPr lang="en-US" sz="3144">
                  <a:solidFill>
                    <a:srgbClr val="000000"/>
                  </a:solidFill>
                  <a:latin typeface="Bryndan Write"/>
                </a:rPr>
                <a:t>8</a:t>
              </a:r>
            </a:p>
          </p:txBody>
        </p:sp>
      </p:grpSp>
      <p:sp>
        <p:nvSpPr>
          <p:cNvPr name="Freeform 16" id="16"/>
          <p:cNvSpPr/>
          <p:nvPr/>
        </p:nvSpPr>
        <p:spPr>
          <a:xfrm flipH="false" flipV="false" rot="-1981930">
            <a:off x="14386237" y="-2389456"/>
            <a:ext cx="5104835" cy="5104835"/>
          </a:xfrm>
          <a:custGeom>
            <a:avLst/>
            <a:gdLst/>
            <a:ahLst/>
            <a:cxnLst/>
            <a:rect r="r" b="b" t="t" l="l"/>
            <a:pathLst>
              <a:path h="5104835" w="5104835">
                <a:moveTo>
                  <a:pt x="0" y="0"/>
                </a:moveTo>
                <a:lnTo>
                  <a:pt x="5104835" y="0"/>
                </a:lnTo>
                <a:lnTo>
                  <a:pt x="5104835" y="5104835"/>
                </a:lnTo>
                <a:lnTo>
                  <a:pt x="0" y="51048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467" t="-10431" r="-2216" b="-13067"/>
            </a:stretch>
          </a:blipFill>
        </p:spPr>
      </p:sp>
      <p:sp>
        <p:nvSpPr>
          <p:cNvPr name="Freeform 3" id="3"/>
          <p:cNvSpPr/>
          <p:nvPr/>
        </p:nvSpPr>
        <p:spPr>
          <a:xfrm flipH="false" flipV="false" rot="-380265">
            <a:off x="1360381" y="1102701"/>
            <a:ext cx="12602964" cy="16662573"/>
          </a:xfrm>
          <a:custGeom>
            <a:avLst/>
            <a:gdLst/>
            <a:ahLst/>
            <a:cxnLst/>
            <a:rect r="r" b="b" t="t" l="l"/>
            <a:pathLst>
              <a:path h="16662573" w="12602964">
                <a:moveTo>
                  <a:pt x="0" y="0"/>
                </a:moveTo>
                <a:lnTo>
                  <a:pt x="12602964" y="0"/>
                </a:lnTo>
                <a:lnTo>
                  <a:pt x="12602964" y="16662572"/>
                </a:lnTo>
                <a:lnTo>
                  <a:pt x="0" y="166625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381588">
            <a:off x="3042903" y="2116006"/>
            <a:ext cx="9643235" cy="3060263"/>
          </a:xfrm>
          <a:prstGeom prst="rect">
            <a:avLst/>
          </a:prstGeom>
        </p:spPr>
        <p:txBody>
          <a:bodyPr anchor="t" rtlCol="false" tIns="0" lIns="0" bIns="0" rIns="0">
            <a:spAutoFit/>
          </a:bodyPr>
          <a:lstStyle/>
          <a:p>
            <a:pPr algn="l">
              <a:lnSpc>
                <a:spcPts val="10666"/>
              </a:lnSpc>
            </a:pPr>
            <a:r>
              <a:rPr lang="en-US" sz="11227" spc="-752">
                <a:solidFill>
                  <a:srgbClr val="000000"/>
                </a:solidFill>
                <a:latin typeface="Gaegu Bold"/>
              </a:rPr>
              <a:t>Meeting </a:t>
            </a:r>
          </a:p>
          <a:p>
            <a:pPr algn="l">
              <a:lnSpc>
                <a:spcPts val="10666"/>
              </a:lnSpc>
            </a:pPr>
            <a:r>
              <a:rPr lang="en-US" sz="11227" spc="-752">
                <a:solidFill>
                  <a:srgbClr val="000000"/>
                </a:solidFill>
                <a:latin typeface="Gaegu Bold"/>
              </a:rPr>
              <a:t>Frequency</a:t>
            </a:r>
          </a:p>
        </p:txBody>
      </p:sp>
      <p:sp>
        <p:nvSpPr>
          <p:cNvPr name="TextBox 5" id="5"/>
          <p:cNvSpPr txBox="true"/>
          <p:nvPr/>
        </p:nvSpPr>
        <p:spPr>
          <a:xfrm rot="-406801">
            <a:off x="3492578" y="5768209"/>
            <a:ext cx="8337574" cy="1499616"/>
          </a:xfrm>
          <a:prstGeom prst="rect">
            <a:avLst/>
          </a:prstGeom>
        </p:spPr>
        <p:txBody>
          <a:bodyPr anchor="t" rtlCol="false" tIns="0" lIns="0" bIns="0" rIns="0">
            <a:spAutoFit/>
          </a:bodyPr>
          <a:lstStyle/>
          <a:p>
            <a:pPr algn="l">
              <a:lnSpc>
                <a:spcPts val="3926"/>
              </a:lnSpc>
            </a:pPr>
            <a:r>
              <a:rPr lang="en-US" sz="3300">
                <a:solidFill>
                  <a:srgbClr val="000000"/>
                </a:solidFill>
                <a:latin typeface="Dosis Semi-Bold"/>
              </a:rPr>
              <a:t>The community should vote for how frequent they want the meetings to be.</a:t>
            </a:r>
          </a:p>
          <a:p>
            <a:pPr algn="l">
              <a:lnSpc>
                <a:spcPts val="3926"/>
              </a:lnSpc>
            </a:pPr>
          </a:p>
        </p:txBody>
      </p:sp>
      <p:sp>
        <p:nvSpPr>
          <p:cNvPr name="Freeform 6" id="6"/>
          <p:cNvSpPr/>
          <p:nvPr/>
        </p:nvSpPr>
        <p:spPr>
          <a:xfrm flipH="false" flipV="false" rot="0">
            <a:off x="12301529" y="4719169"/>
            <a:ext cx="6697638" cy="5140437"/>
          </a:xfrm>
          <a:custGeom>
            <a:avLst/>
            <a:gdLst/>
            <a:ahLst/>
            <a:cxnLst/>
            <a:rect r="r" b="b" t="t" l="l"/>
            <a:pathLst>
              <a:path h="5140437" w="6697638">
                <a:moveTo>
                  <a:pt x="0" y="0"/>
                </a:moveTo>
                <a:lnTo>
                  <a:pt x="6697639" y="0"/>
                </a:lnTo>
                <a:lnTo>
                  <a:pt x="6697639" y="5140437"/>
                </a:lnTo>
                <a:lnTo>
                  <a:pt x="0" y="51404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1388038">
            <a:off x="14173390" y="434465"/>
            <a:ext cx="1342255" cy="1924380"/>
          </a:xfrm>
          <a:custGeom>
            <a:avLst/>
            <a:gdLst/>
            <a:ahLst/>
            <a:cxnLst/>
            <a:rect r="r" b="b" t="t" l="l"/>
            <a:pathLst>
              <a:path h="1924380" w="1342255">
                <a:moveTo>
                  <a:pt x="0" y="0"/>
                </a:moveTo>
                <a:lnTo>
                  <a:pt x="1342255" y="0"/>
                </a:lnTo>
                <a:lnTo>
                  <a:pt x="1342255" y="1924380"/>
                </a:lnTo>
                <a:lnTo>
                  <a:pt x="0" y="19243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true" flipV="true" rot="-4173535">
            <a:off x="14814494" y="519638"/>
            <a:ext cx="4200691" cy="4451599"/>
          </a:xfrm>
          <a:custGeom>
            <a:avLst/>
            <a:gdLst/>
            <a:ahLst/>
            <a:cxnLst/>
            <a:rect r="r" b="b" t="t" l="l"/>
            <a:pathLst>
              <a:path h="4451599" w="4200691">
                <a:moveTo>
                  <a:pt x="4200691" y="4451599"/>
                </a:moveTo>
                <a:lnTo>
                  <a:pt x="0" y="4451599"/>
                </a:lnTo>
                <a:lnTo>
                  <a:pt x="0" y="0"/>
                </a:lnTo>
                <a:lnTo>
                  <a:pt x="4200691" y="0"/>
                </a:lnTo>
                <a:lnTo>
                  <a:pt x="4200691" y="4451599"/>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DAGD5EEUqZ8</dc:identifier>
  <dcterms:modified xsi:type="dcterms:W3CDTF">2011-08-01T06:04:30Z</dcterms:modified>
  <cp:revision>1</cp:revision>
  <dc:title>Sustainable energy for</dc:title>
</cp:coreProperties>
</file>